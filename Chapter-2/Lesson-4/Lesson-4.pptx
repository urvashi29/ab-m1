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8"/>
  </p:notesMasterIdLst>
  <p:sldIdLst>
    <p:sldId id="256" r:id="rId3"/>
    <p:sldId id="257" r:id="rId4"/>
    <p:sldId id="306" r:id="rId5"/>
    <p:sldId id="315" r:id="rId6"/>
    <p:sldId id="316" r:id="rId7"/>
    <p:sldId id="317" r:id="rId8"/>
    <p:sldId id="318" r:id="rId9"/>
    <p:sldId id="319" r:id="rId10"/>
    <p:sldId id="325" r:id="rId11"/>
    <p:sldId id="321" r:id="rId12"/>
    <p:sldId id="322" r:id="rId13"/>
    <p:sldId id="323" r:id="rId14"/>
    <p:sldId id="324" r:id="rId15"/>
    <p:sldId id="264" r:id="rId16"/>
    <p:sldId id="263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-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6T14:40:4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187 336 1112 0 0,'0'0'5539'0'0,"1"-3"-4952"0"0,3-22 1136 0 0,-4 25-1688 0 0,0 0-1 0 0,1 0 0 0 0,-1-1 0 0 0,0 1 0 0 0,0 0 0 0 0,1 0 0 0 0,-1 0 0 0 0,0 0 0 0 0,0 0 0 0 0,1 0 0 0 0,-1 0 0 0 0,0 0 0 0 0,1 0 0 0 0,-1-1 0 0 0,0 1 1 0 0,0 0-1 0 0,1 0 0 0 0,-1 0 0 0 0,0 1 0 0 0,0-1 0 0 0,1 0 0 0 0,-1 0 0 0 0,0 0 0 0 0,1 0 0 0 0,-1 0 0 0 0,0 0 0 0 0,0 0 0 0 0,0 0 0 0 0,1 1 0 0 0,-1-1 0 0 0,0 0 1 0 0,0 0-1 0 0,1 0 0 0 0,-1 0 0 0 0,0 1 0 0 0,0-1 0 0 0,0 0 0 0 0,0 0 0 0 0,1 1 0 0 0,10 7 392 0 0,-9-1-359 0 0,1 0 1 0 0,-1 0-1 0 0,-1 0 1 0 0,1 0 0 0 0,-1 0-1 0 0,0 0 1 0 0,-1 0-1 0 0,0 1 1 0 0,-1 10-1 0 0,1 0 58 0 0,0-11-73 0 0,-1-1 0 0 0,0 0 0 0 0,0 0 0 0 0,-1 0 0 0 0,1 0 0 0 0,-2 0 1 0 0,1 0-1 0 0,0 0 0 0 0,-1-1 0 0 0,0 1 0 0 0,-5 6 0 0 0,7-10 1 0 0,0-1 1 0 0,0 1-1 0 0,-1-1 1 0 0,1 0-1 0 0,0 0 0 0 0,0 1 1 0 0,-1-1-1 0 0,1 0 0 0 0,-1 0 1 0 0,1 0-1 0 0,-1-1 0 0 0,1 1 1 0 0,-1 0-1 0 0,0 0 0 0 0,1-1 1 0 0,-1 1-1 0 0,0-1 1 0 0,0 0-1 0 0,1 1 0 0 0,-1-1 1 0 0,-2 0-1 0 0,2-1-30 0 0,0 1 0 0 0,0-1 0 0 0,0 1 0 0 0,1-1 0 0 0,-1 0 0 0 0,0 0 0 0 0,1 0 0 0 0,-1 0 0 0 0,0 0 0 0 0,1 0 0 0 0,-1-1-1 0 0,1 1 1 0 0,0-1 0 0 0,-1 1 0 0 0,1-1 0 0 0,-1-1 0 0 0,-3-5 7 0 0,0 0-1 0 0,1 0 1 0 0,1 0-1 0 0,-1 0 0 0 0,1-1 1 0 0,1 1-1 0 0,-3-12 1 0 0,2-8 26 0 0,1 1 0 0 0,2-1 1 0 0,0 0-1 0 0,2 0 1 0 0,1 0-1 0 0,1 0 1 0 0,11-34-1 0 0,-10 40-6 0 0,16-41 0 0 0,-18 56-40 0 0,0 0 0 0 0,0 0 0 0 0,1 1 0 0 0,0-1 1 0 0,0 1-1 0 0,1 0 0 0 0,0 0 0 0 0,0 0 0 0 0,9-7 0 0 0,-14 13-10 0 0,1-1 0 0 0,0 1 0 0 0,-1-1 0 0 0,1 1 0 0 0,0 0 0 0 0,-1-1 0 0 0,1 1 0 0 0,0 0 0 0 0,-1-1 0 0 0,1 1 0 0 0,0 0 0 0 0,0 0 0 0 0,-1 0 0 0 0,1-1 0 0 0,0 1 0 0 0,0 0 0 0 0,-1 0 0 0 0,1 0 0 0 0,0 0 0 0 0,0 0 0 0 0,-1 1 0 0 0,1-1 0 0 0,0 0 0 0 0,0 0 0 0 0,0 1 0 0 0,1 0 0 0 0,-1 0 1 0 0,0 0-1 0 0,1 0 1 0 0,-1 0-1 0 0,0 0 1 0 0,0 0-1 0 0,0 0 1 0 0,0 1-1 0 0,0-1 1 0 0,0 0-1 0 0,1 3 1 0 0,1 3 6 0 0,0 0-1 0 0,0 0 1 0 0,0 0-1 0 0,1 11 1 0 0,1 9-8 0 0,-1 1-1 0 0,-2 0 1 0 0,-2 52 0 0 0,-17 84 0 0 0,16-160 1 0 0,-11 83 11 0 0,-4-1-1 0 0,-3-1 1 0 0,-4-1 0 0 0,-4-1-1 0 0,-45 94 1 0 0,71-174-9 0 0,0 0 2 0 0,-1 0-1 0 0,1-1 1 0 0,0 1-1 0 0,-1 0 1 0 0,0-1-1 0 0,0 0 1 0 0,0 1 0 0 0,-4 3-1 0 0,5-5-18 0 0,-2-3-9 0 0,0-1 18 0 0,1 1-1 0 0,-1-1 1 0 0,1 0 0 0 0,-1 0 0 0 0,1 0 0 0 0,0 0 0 0 0,0 0 0 0 0,0 0 0 0 0,0 0 0 0 0,1-1-1 0 0,-1 1 1 0 0,1-1 0 0 0,0 0 0 0 0,-1-5 0 0 0,-2-11-53 0 0,-2-32 0 0 0,1 7-5 0 0,2 5-316 0 0,3 39 260 0 0,0-15-951 0 0,0 5-5609 0 0,0 5 5454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6T14:44:58.0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0 876 0 0,'5'8'92'0'0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szengarden.com/" TargetMode="External"/><Relationship Id="rId2" Type="http://schemas.openxmlformats.org/officeDocument/2006/relationships/hyperlink" Target="https://stackoverflow.com/" TargetMode="Externa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 dirty="0"/>
              <a:t>Session Agenda</a:t>
            </a:r>
            <a:endParaRPr sz="3600" dirty="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727347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bg1"/>
                </a:solidFill>
                <a:effectLst/>
                <a:latin typeface="+mn-lt"/>
              </a:rPr>
              <a:t>Introduction, Syntax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bg1"/>
                </a:solidFill>
                <a:effectLst/>
                <a:latin typeface="+mn-lt"/>
              </a:rPr>
              <a:t>Selectors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Box Modal: </a:t>
            </a:r>
            <a:r>
              <a:rPr lang="en-US" sz="1600" b="1" i="0" dirty="0">
                <a:solidFill>
                  <a:schemeClr val="bg1"/>
                </a:solidFill>
                <a:effectLst/>
                <a:latin typeface="+mn-lt"/>
              </a:rPr>
              <a:t>Margins, Padding, Borders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Background, Text, Font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44524C-88F9-BF14-0C49-498E286350DD}"/>
                  </a:ext>
                </a:extLst>
              </p14:cNvPr>
              <p14:cNvContentPartPr/>
              <p14:nvPr/>
            </p14:nvContentPartPr>
            <p14:xfrm>
              <a:off x="1018980" y="2936820"/>
              <a:ext cx="93600" cy="370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44524C-88F9-BF14-0C49-498E286350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9980" y="2927820"/>
                <a:ext cx="111240" cy="38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589385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What is CSS?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84A921-32AD-D33D-8E57-2D0A995042D9}"/>
              </a:ext>
            </a:extLst>
          </p:cNvPr>
          <p:cNvSpPr txBox="1"/>
          <p:nvPr/>
        </p:nvSpPr>
        <p:spPr>
          <a:xfrm>
            <a:off x="514351" y="1055346"/>
            <a:ext cx="8290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CSS stands for Cascading Stylesheet.</a:t>
            </a:r>
          </a:p>
          <a:p>
            <a:pPr marL="257175" indent="-257175" algn="just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</a:endParaRPr>
          </a:p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CSS was introduced by </a:t>
            </a:r>
            <a:r>
              <a:rPr lang="en-IN" sz="1800" dirty="0" err="1">
                <a:solidFill>
                  <a:schemeClr val="tx1"/>
                </a:solidFill>
              </a:rPr>
              <a:t>Håkon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  <a:r>
              <a:rPr lang="en-IN" sz="1800" dirty="0" err="1">
                <a:solidFill>
                  <a:schemeClr val="tx1"/>
                </a:solidFill>
              </a:rPr>
              <a:t>Wium</a:t>
            </a:r>
            <a:r>
              <a:rPr lang="en-IN" sz="1800" dirty="0">
                <a:solidFill>
                  <a:schemeClr val="tx1"/>
                </a:solidFill>
              </a:rPr>
              <a:t> in 1994.</a:t>
            </a:r>
          </a:p>
          <a:p>
            <a:pPr marL="257175" indent="-257175" algn="just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</a:endParaRPr>
          </a:p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CSS is all about the presentation or style of the page.</a:t>
            </a:r>
          </a:p>
          <a:p>
            <a:pPr marL="257175" indent="-257175" algn="just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</a:endParaRPr>
          </a:p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It adds Styling, beauty to your Website.</a:t>
            </a:r>
          </a:p>
          <a:p>
            <a:pPr marL="257175" indent="-257175" algn="just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</a:endParaRPr>
          </a:p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Think of it as a "theme" in a word processing document, setting  fonts, sizes, indentations.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87B6D1-27B2-AF38-2E04-7B8D8C5533AE}"/>
                  </a:ext>
                </a:extLst>
              </p14:cNvPr>
              <p14:cNvContentPartPr/>
              <p14:nvPr/>
            </p14:nvContentPartPr>
            <p14:xfrm>
              <a:off x="2730060" y="2478000"/>
              <a:ext cx="2160" cy="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87B6D1-27B2-AF38-2E04-7B8D8C5533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1420" y="2469000"/>
                <a:ext cx="1980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197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02075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WAYS TO ADD CSS?</a:t>
            </a:r>
            <a:endParaRPr lang="en-IN" sz="2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243AE6-31ED-21D4-A837-967508BF6AF7}"/>
              </a:ext>
            </a:extLst>
          </p:cNvPr>
          <p:cNvSpPr txBox="1"/>
          <p:nvPr/>
        </p:nvSpPr>
        <p:spPr>
          <a:xfrm>
            <a:off x="514350" y="1138231"/>
            <a:ext cx="8290477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§"/>
            </a:pPr>
            <a:r>
              <a:rPr lang="en-IN" sz="1800" dirty="0"/>
              <a:t>Inline CSS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IN" sz="1800" dirty="0"/>
              <a:t>External CSS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IN" sz="1800" dirty="0"/>
              <a:t>Internal CSS</a:t>
            </a:r>
          </a:p>
          <a:p>
            <a:endParaRPr lang="en-IN" sz="1800" dirty="0"/>
          </a:p>
          <a:p>
            <a:pPr algn="l"/>
            <a:r>
              <a:rPr lang="en-US" sz="1800" dirty="0"/>
              <a:t>All the styles in a page will "cascade" into a new "virtual" style sheet by the following rules, where number one has the highest priority: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Inline style (inside an HTML element)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External and internal style sheets (in the head section)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Browser default</a:t>
            </a:r>
          </a:p>
          <a:p>
            <a:pPr algn="l"/>
            <a:r>
              <a:rPr lang="en-US" sz="1800" dirty="0"/>
              <a:t>So, an inline style has the highest priority, and will override external and internal styles and browser defaults.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915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IMPORTANCE OF CSS?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8332E-EA1D-5655-1A57-068553A79424}"/>
              </a:ext>
            </a:extLst>
          </p:cNvPr>
          <p:cNvSpPr txBox="1"/>
          <p:nvPr/>
        </p:nvSpPr>
        <p:spPr>
          <a:xfrm>
            <a:off x="381000" y="1003018"/>
            <a:ext cx="8572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100" dirty="0">
                <a:hlinkClick r:id="rId2"/>
              </a:rPr>
              <a:t>https://stackoverflow.com/</a:t>
            </a:r>
            <a:endParaRPr lang="en-US" sz="2100" dirty="0"/>
          </a:p>
          <a:p>
            <a:pPr marL="257175" indent="-257175">
              <a:buFont typeface="Wingdings" panose="05000000000000000000" pitchFamily="2" charset="2"/>
              <a:buChar char="§"/>
            </a:pPr>
            <a:endParaRPr lang="en-US" sz="2100" dirty="0"/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100" dirty="0">
                <a:hlinkClick r:id="rId3"/>
              </a:rPr>
              <a:t>http://www.csszengarden.com/</a:t>
            </a:r>
            <a:endParaRPr lang="en-US" sz="2100" dirty="0"/>
          </a:p>
          <a:p>
            <a:pPr marL="257175" indent="-257175">
              <a:buFont typeface="Wingdings" panose="05000000000000000000" pitchFamily="2" charset="2"/>
              <a:buChar char="§"/>
            </a:pPr>
            <a:endParaRPr lang="en-US" sz="2100" dirty="0"/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100" dirty="0"/>
              <a:t>https://chrome.google.com/webstore/detail/web-developer/bfbameneiokkgbdmiekhjnmfkcnldhhm</a:t>
            </a:r>
          </a:p>
        </p:txBody>
      </p:sp>
    </p:spTree>
    <p:extLst>
      <p:ext uri="{BB962C8B-B14F-4D97-AF65-F5344CB8AC3E}">
        <p14:creationId xmlns:p14="http://schemas.microsoft.com/office/powerpoint/2010/main" val="275984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89501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Syntax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F9D04F-A5E2-4DBB-3F04-9ECC988BF424}"/>
              </a:ext>
            </a:extLst>
          </p:cNvPr>
          <p:cNvSpPr txBox="1"/>
          <p:nvPr/>
        </p:nvSpPr>
        <p:spPr>
          <a:xfrm>
            <a:off x="502920" y="985014"/>
            <a:ext cx="6019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A CSS rule consists of a selector and a declaration block.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Syntax: selector { Declaration }</a:t>
            </a:r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        </a:t>
            </a:r>
          </a:p>
          <a:p>
            <a:r>
              <a:rPr lang="en-IN" sz="1800" dirty="0"/>
              <a:t>                   Property                 Value</a:t>
            </a:r>
          </a:p>
          <a:p>
            <a:r>
              <a:rPr lang="en-IN" sz="1800" dirty="0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16AC5F-58A0-C6CF-9150-96F4F10D49B9}"/>
              </a:ext>
            </a:extLst>
          </p:cNvPr>
          <p:cNvSpPr/>
          <p:nvPr/>
        </p:nvSpPr>
        <p:spPr>
          <a:xfrm>
            <a:off x="1208811" y="2220253"/>
            <a:ext cx="3043149" cy="71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50" dirty="0"/>
              <a:t>h1 {</a:t>
            </a:r>
            <a:r>
              <a:rPr lang="en-IN" sz="1350" dirty="0" err="1"/>
              <a:t>color</a:t>
            </a:r>
            <a:r>
              <a:rPr lang="en-IN" sz="1350" dirty="0"/>
              <a:t>: black; font-size: 20px }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C56215-3D95-C951-3D66-BE71EF69DE89}"/>
              </a:ext>
            </a:extLst>
          </p:cNvPr>
          <p:cNvCxnSpPr>
            <a:cxnSpLocks/>
          </p:cNvCxnSpPr>
          <p:nvPr/>
        </p:nvCxnSpPr>
        <p:spPr>
          <a:xfrm flipV="1">
            <a:off x="1722120" y="1801314"/>
            <a:ext cx="0" cy="59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1B35AF-5DCC-A9B5-04A6-BE2AFC98B508}"/>
              </a:ext>
            </a:extLst>
          </p:cNvPr>
          <p:cNvCxnSpPr>
            <a:cxnSpLocks/>
          </p:cNvCxnSpPr>
          <p:nvPr/>
        </p:nvCxnSpPr>
        <p:spPr>
          <a:xfrm>
            <a:off x="3512820" y="2678421"/>
            <a:ext cx="0" cy="590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ED8B09-B38E-FD43-305A-BBB8C7FE3A8A}"/>
              </a:ext>
            </a:extLst>
          </p:cNvPr>
          <p:cNvCxnSpPr>
            <a:cxnSpLocks/>
          </p:cNvCxnSpPr>
          <p:nvPr/>
        </p:nvCxnSpPr>
        <p:spPr>
          <a:xfrm>
            <a:off x="2011680" y="2678421"/>
            <a:ext cx="0" cy="590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802F4E-C020-6C8A-2EAA-29B7786A8FBE}"/>
              </a:ext>
            </a:extLst>
          </p:cNvPr>
          <p:cNvCxnSpPr>
            <a:cxnSpLocks/>
          </p:cNvCxnSpPr>
          <p:nvPr/>
        </p:nvCxnSpPr>
        <p:spPr>
          <a:xfrm flipV="1">
            <a:off x="2842260" y="1801314"/>
            <a:ext cx="0" cy="59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127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514350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Basic Selector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B5ADDA-87A4-323E-63B4-9885DCE57C74}"/>
              </a:ext>
            </a:extLst>
          </p:cNvPr>
          <p:cNvSpPr txBox="1"/>
          <p:nvPr/>
        </p:nvSpPr>
        <p:spPr>
          <a:xfrm>
            <a:off x="514350" y="1028335"/>
            <a:ext cx="6019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A CSS selector selects the HTML element(s) you want to style.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Ways to select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CSS Element Sector:- h1 {}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CSS id Selector:- # {}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CSS class Selector:- .{}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CSS Universal Selector:- *</a:t>
            </a:r>
            <a:endParaRPr lang="en-US" sz="1800" dirty="0"/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CSS Grouping Selector:- h1, p {}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3921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69476" y="591713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Colors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4A7C7-7BB4-FDE9-A05E-AA382988A478}"/>
              </a:ext>
            </a:extLst>
          </p:cNvPr>
          <p:cNvSpPr txBox="1"/>
          <p:nvPr/>
        </p:nvSpPr>
        <p:spPr>
          <a:xfrm>
            <a:off x="482040" y="1099655"/>
            <a:ext cx="8465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Colors are specified using predefined color names, or RGB, HEX, HSL, RGBA, HSLA values.</a:t>
            </a:r>
          </a:p>
          <a:p>
            <a:pPr algn="l"/>
            <a:r>
              <a:rPr lang="en-US" sz="1800" dirty="0"/>
              <a:t>	e.g. </a:t>
            </a:r>
            <a:r>
              <a:rPr lang="en-US" sz="1800" dirty="0" err="1"/>
              <a:t>Backgound</a:t>
            </a:r>
            <a:r>
              <a:rPr lang="en-US" sz="1800" dirty="0"/>
              <a:t> color, color, border 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Ways to define color values: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Color name 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 err="1"/>
              <a:t>rgb</a:t>
            </a:r>
            <a:r>
              <a:rPr lang="en-IN" sz="1800" dirty="0"/>
              <a:t>(255, 99, 71)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#ff6347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 err="1"/>
              <a:t>hsl</a:t>
            </a:r>
            <a:r>
              <a:rPr lang="en-IN" sz="1800" dirty="0"/>
              <a:t>(9, 100%, 64%)</a:t>
            </a:r>
          </a:p>
          <a:p>
            <a:pPr marL="342900" lvl="1"/>
            <a:endParaRPr lang="en-IN" sz="18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https://colorhunt.co/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16580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587684"/>
            <a:ext cx="4922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Height/Width</a:t>
            </a:r>
          </a:p>
          <a:p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47EB17-3C47-2B58-6244-5B373EEE2DA8}"/>
              </a:ext>
            </a:extLst>
          </p:cNvPr>
          <p:cNvSpPr txBox="1"/>
          <p:nvPr/>
        </p:nvSpPr>
        <p:spPr>
          <a:xfrm>
            <a:off x="148723" y="1048301"/>
            <a:ext cx="8995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 height and width properties are used to set the height and width of an element.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The height and width properties do not include padding, borders, or margins. It sets </a:t>
            </a:r>
          </a:p>
          <a:p>
            <a:r>
              <a:rPr lang="en-US" sz="1800" dirty="0"/>
              <a:t>     the height/width of the area inside the padding, border, and margin of the element.</a:t>
            </a:r>
          </a:p>
        </p:txBody>
      </p:sp>
    </p:spTree>
    <p:extLst>
      <p:ext uri="{BB962C8B-B14F-4D97-AF65-F5344CB8AC3E}">
        <p14:creationId xmlns:p14="http://schemas.microsoft.com/office/powerpoint/2010/main" val="266385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Borders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1F067D-19AC-1F3F-4771-536D36D25A44}"/>
              </a:ext>
            </a:extLst>
          </p:cNvPr>
          <p:cNvSpPr txBox="1"/>
          <p:nvPr/>
        </p:nvSpPr>
        <p:spPr>
          <a:xfrm>
            <a:off x="485850" y="1099655"/>
            <a:ext cx="84658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The CSS border properties allow you to specify the style, width, and color of an element's border.</a:t>
            </a:r>
          </a:p>
          <a:p>
            <a:pPr algn="l"/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border-color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border-style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border-width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 shorthand 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 radius</a:t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32498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79759" y="591781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Margin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BFF9F-8D7E-9541-2DCF-E87046B065B2}"/>
              </a:ext>
            </a:extLst>
          </p:cNvPr>
          <p:cNvSpPr txBox="1"/>
          <p:nvPr/>
        </p:nvSpPr>
        <p:spPr>
          <a:xfrm>
            <a:off x="482041" y="1099791"/>
            <a:ext cx="84658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Margins are used to create space around elements, outside of any defined borders.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margin-top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margin-right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margin-bottom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margin-left</a:t>
            </a:r>
          </a:p>
          <a:p>
            <a:pPr algn="l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2106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64386" y="608708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Padding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872278-5B01-9A53-C994-10AEA2FEFB42}"/>
              </a:ext>
            </a:extLst>
          </p:cNvPr>
          <p:cNvSpPr txBox="1"/>
          <p:nvPr/>
        </p:nvSpPr>
        <p:spPr>
          <a:xfrm>
            <a:off x="482041" y="1042059"/>
            <a:ext cx="84658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Padding is used to create space around an element's content, inside of any defined borders.</a:t>
            </a:r>
          </a:p>
          <a:p>
            <a:pPr algn="l"/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padding-top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padding-right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padding-bottom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padding-left</a:t>
            </a:r>
          </a:p>
          <a:p>
            <a:pPr algn="l"/>
            <a:endParaRPr lang="en-US" sz="1800" dirty="0"/>
          </a:p>
          <a:p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0463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Box Model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E5A19B-005D-EFCF-CDA3-0A3A9ACA9B26}"/>
              </a:ext>
            </a:extLst>
          </p:cNvPr>
          <p:cNvSpPr txBox="1"/>
          <p:nvPr/>
        </p:nvSpPr>
        <p:spPr>
          <a:xfrm>
            <a:off x="438283" y="1163811"/>
            <a:ext cx="863727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In CSS, the term "box model" is used when talking about design and layout.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The CSS box model is essentially a box that wraps around every HTML element.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It consists of: margins, borders, padding, and the content.</a:t>
            </a:r>
          </a:p>
          <a:p>
            <a:pPr>
              <a:lnSpc>
                <a:spcPct val="150000"/>
              </a:lnSpc>
            </a:pPr>
            <a:br>
              <a:rPr lang="en-US" sz="1800" dirty="0"/>
            </a:br>
            <a:endParaRPr lang="en-IN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D8C173-5E21-68DA-8F1D-1698D5D95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382" y="2571751"/>
            <a:ext cx="3043238" cy="146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45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543</Words>
  <Application>Microsoft Office PowerPoint</Application>
  <PresentationFormat>On-screen Show (16:9)</PresentationFormat>
  <Paragraphs>99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Montserrat</vt:lpstr>
      <vt:lpstr>Wingdings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105</cp:revision>
  <dcterms:modified xsi:type="dcterms:W3CDTF">2026-04-11T15:08:17Z</dcterms:modified>
</cp:coreProperties>
</file>